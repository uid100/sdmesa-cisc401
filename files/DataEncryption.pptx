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62" r:id="rId7"/>
    <p:sldId id="259" r:id="rId8"/>
    <p:sldId id="261" r:id="rId9"/>
    <p:sldId id="268" r:id="rId10"/>
    <p:sldId id="265" r:id="rId11"/>
    <p:sldId id="266" r:id="rId12"/>
    <p:sldId id="267" r:id="rId13"/>
    <p:sldId id="285" r:id="rId14"/>
    <p:sldId id="270" r:id="rId15"/>
    <p:sldId id="271" r:id="rId16"/>
    <p:sldId id="272" r:id="rId17"/>
    <p:sldId id="273" r:id="rId18"/>
    <p:sldId id="274" r:id="rId19"/>
    <p:sldId id="275" r:id="rId20"/>
    <p:sldId id="280" r:id="rId21"/>
    <p:sldId id="277" r:id="rId22"/>
    <p:sldId id="281" r:id="rId23"/>
    <p:sldId id="282" r:id="rId24"/>
    <p:sldId id="283" r:id="rId25"/>
    <p:sldId id="278" r:id="rId26"/>
    <p:sldId id="284" r:id="rId27"/>
    <p:sldId id="279" r:id="rId28"/>
    <p:sldId id="258" r:id="rId29"/>
    <p:sldId id="264" r:id="rId30"/>
    <p:sldId id="269" r:id="rId31"/>
    <p:sldId id="26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Wills" initials="MikeW" lastIdx="1" clrIdx="0">
    <p:extLst>
      <p:ext uri="{19B8F6BF-5375-455C-9EA6-DF929625EA0E}">
        <p15:presenceInfo xmlns:p15="http://schemas.microsoft.com/office/powerpoint/2012/main" userId="MSWill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2643" autoAdjust="0"/>
  </p:normalViewPr>
  <p:slideViewPr>
    <p:cSldViewPr snapToGrid="0">
      <p:cViewPr varScale="1">
        <p:scale>
          <a:sx n="130" d="100"/>
          <a:sy n="130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7A7D0-E1C2-4AB6-99D0-E89DEACD261C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1B6E9-B266-4CC7-A022-965D3271D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6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This LESSON TEMPLATE provides a high-level standard approach to </a:t>
            </a:r>
            <a:r>
              <a:rPr lang="en-US" i="1" dirty="0">
                <a:solidFill>
                  <a:srgbClr val="FFFF00"/>
                </a:solidFill>
              </a:rPr>
              <a:t>delivering a lesson experience.</a:t>
            </a:r>
            <a:endParaRPr lang="en-US" dirty="0">
              <a:solidFill>
                <a:srgbClr val="FFFF00"/>
              </a:solidFill>
            </a:endParaRPr>
          </a:p>
          <a:p>
            <a:pPr algn="ctr"/>
            <a:endParaRPr lang="en-US" dirty="0">
              <a:solidFill>
                <a:srgbClr val="FFFF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It DOES identify the major steps each lesson should have. Students need to see, feel, hear, or touch these steps. They need to be real.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olidFill>
                <a:srgbClr val="FFFF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It DOES NOT dictate the use of PPTs, or a slide for every step.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MAIN TOPIC: should be an </a:t>
            </a:r>
            <a:r>
              <a:rPr lang="en-US" sz="1200" dirty="0"/>
              <a:t>Action Verb statement, such as “Configure and Test a VPN” or “Build a Bubble Sort”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9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Break the main lesson objective down into four to six Action Verb statements.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sz="1200" dirty="0"/>
              <a:t>For our VPN example, these might be:</a:t>
            </a:r>
          </a:p>
          <a:p>
            <a:pPr marL="342900" indent="-342900">
              <a:buAutoNum type="arabicPeriod"/>
            </a:pPr>
            <a:r>
              <a:rPr lang="en-US" sz="1200" dirty="0"/>
              <a:t>Identify key design elements (to meet user needs, security, and other policy requirements)</a:t>
            </a:r>
          </a:p>
          <a:p>
            <a:pPr marL="342900" indent="-342900">
              <a:buAutoNum type="arabicPeriod"/>
            </a:pPr>
            <a:r>
              <a:rPr lang="en-US" sz="1200" dirty="0"/>
              <a:t>Select the right VPN tools, and verify they are correctly installed</a:t>
            </a:r>
          </a:p>
          <a:p>
            <a:pPr marL="342900" indent="-342900">
              <a:buAutoNum type="arabicPeriod"/>
            </a:pPr>
            <a:r>
              <a:rPr lang="en-US" sz="1200" dirty="0"/>
              <a:t>Configure both ends of the VPN</a:t>
            </a:r>
          </a:p>
          <a:p>
            <a:pPr marL="342900" indent="-342900">
              <a:buAutoNum type="arabicPeriod"/>
            </a:pPr>
            <a:r>
              <a:rPr lang="en-US" sz="1200" dirty="0"/>
              <a:t>Test the VPN’s basic operation</a:t>
            </a:r>
          </a:p>
          <a:p>
            <a:pPr marL="342900" indent="-342900">
              <a:buAutoNum type="arabicPeriod"/>
            </a:pPr>
            <a:r>
              <a:rPr lang="en-US" sz="1200" dirty="0"/>
              <a:t>Attempt penetration / security / error testing of the new VPN</a:t>
            </a:r>
          </a:p>
          <a:p>
            <a:pPr marL="342900" indent="-342900">
              <a:buAutoNum type="arabicPeriod"/>
            </a:pPr>
            <a:r>
              <a:rPr lang="en-US" sz="1200" dirty="0"/>
              <a:t>Enable users (or classes of users) to use the VPN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68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Make real world connections that relate what we’re about to teach and learn to realistic, everyday uses.  </a:t>
            </a:r>
          </a:p>
          <a:p>
            <a:endParaRPr lang="en-US" i="0" dirty="0"/>
          </a:p>
          <a:p>
            <a:r>
              <a:rPr lang="en-US" i="0" dirty="0"/>
              <a:t>For a single Main Topic, there might be one, three or more “key features” that you can make examples of.  Take one or more of them and </a:t>
            </a:r>
            <a:r>
              <a:rPr lang="en-US" b="1" i="1" dirty="0"/>
              <a:t>illustrate in terms of outcome</a:t>
            </a:r>
            <a:r>
              <a:rPr lang="en-US" b="0" i="0" u="none" dirty="0"/>
              <a:t>:  what does the business gain (over its competitors, or against its adversaries) by doing this?</a:t>
            </a:r>
            <a:endParaRPr lang="en-US" i="0" dirty="0"/>
          </a:p>
          <a:p>
            <a:endParaRPr lang="en-US" i="0" dirty="0"/>
          </a:p>
          <a:p>
            <a:r>
              <a:rPr lang="en-US" i="0" dirty="0"/>
              <a:t>Lead a quick discussion, with an example such as:</a:t>
            </a:r>
          </a:p>
          <a:p>
            <a:endParaRPr lang="en-US" i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Loops and Conditional statements: “Smart Home” products you can control with your smartphone (but keep burglars from controlling for you)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0" dirty="0"/>
              <a:t>Infinite loops: machines are always waiting for us – or others – to do something. That’s a “wait until called” loop.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0" dirty="0"/>
              <a:t>Why?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i="0" dirty="0"/>
              <a:t>Simplifies the design AND makes the user interface easier to understand.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i="0" dirty="0"/>
              <a:t>Conveys “always watching over you”, always protecting, always monitoring.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i="0" dirty="0"/>
              <a:t>This directly relates to the customer’s perception of the value of this service.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600" i="0" dirty="0"/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600" i="0" dirty="0"/>
              <a:t>Other examples: how would YOU quickly link the “what the code or the system does” to the value the users and the company derive from it?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sz="1600" i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Digital Signatures: verify that the update you’re downloading from Microsoft is really </a:t>
            </a:r>
            <a:r>
              <a:rPr lang="en-US" sz="2000" i="0" u="none" dirty="0"/>
              <a:t>from</a:t>
            </a:r>
            <a:r>
              <a:rPr lang="en-US" sz="2000" i="0" dirty="0"/>
              <a:t> Microsoft, and is what they say it 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i="0" dirty="0"/>
              <a:t>Increases users’ trust in the update itself and the update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i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Presentation Layer Deserialization: “compare 5 products” in online shopping means fetch five products’ worth of data, arrange in a table, send to the client row by row, value by value, to display in shopper-friendly form.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i="0" dirty="0"/>
              <a:t>PS: Isn’t this table a two-dimensional array, with rows and columns? You </a:t>
            </a:r>
            <a:r>
              <a:rPr lang="en-US" sz="1600" i="0" u="sng" dirty="0"/>
              <a:t>have</a:t>
            </a:r>
            <a:r>
              <a:rPr lang="en-US" sz="1600" i="0" dirty="0"/>
              <a:t> been online shopping before, haven’t you?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600" i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i="0" dirty="0"/>
              <a:t>Pivot tables (enrichment topic): MOST business users extract data from databases into tools like Power BI, Tableau, or Excel… but it’s useful to understand how they work underneath, in SQL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i="0" dirty="0"/>
              <a:t>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97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Break your lesson plan down into its discrete chunks, by 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THESE STEPS ARE IMPORTANT. They engage the students with both </a:t>
            </a:r>
            <a:r>
              <a:rPr lang="en-US" i="1" u="sng" dirty="0"/>
              <a:t>doing</a:t>
            </a:r>
            <a:r>
              <a:rPr lang="en-US" i="0" u="none" dirty="0"/>
              <a:t> what you’re teaching them and </a:t>
            </a:r>
            <a:r>
              <a:rPr lang="en-US" i="1" u="sng" dirty="0"/>
              <a:t>thinking about it</a:t>
            </a:r>
            <a:r>
              <a:rPr lang="en-US" i="0" u="none" dirty="0"/>
              <a:t> along the way.</a:t>
            </a:r>
            <a:endParaRPr lang="en-US" i="0" dirty="0"/>
          </a:p>
          <a:p>
            <a:endParaRPr lang="en-US" dirty="0"/>
          </a:p>
          <a:p>
            <a:r>
              <a:rPr lang="en-US" i="0" dirty="0"/>
              <a:t>NOTE: maybe each Outcome maps to specific steps. Maybe they don’t. You need to cover each outcome in at least one of the steps.</a:t>
            </a:r>
          </a:p>
          <a:p>
            <a:r>
              <a:rPr lang="en-US" i="0" dirty="0"/>
              <a:t>Extra steps – that don’t map to an Outcome, but that add enrichment, fun, what have you – are encouraged and welcome!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23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none" dirty="0"/>
              <a:t>THIS IS THE MEAT AND POTATOES. </a:t>
            </a:r>
          </a:p>
          <a:p>
            <a:endParaRPr lang="en-US" b="1" u="none" dirty="0"/>
          </a:p>
          <a:p>
            <a:r>
              <a:rPr lang="en-US" b="1" u="none" dirty="0"/>
              <a:t>Add your lesson content here. ADD SLIDES or other resources here as you need them.</a:t>
            </a:r>
          </a:p>
          <a:p>
            <a:endParaRPr lang="en-US" b="1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34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18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01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92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Encryption includes:</a:t>
            </a:r>
          </a:p>
          <a:p>
            <a:r>
              <a:rPr lang="en-US" dirty="0"/>
              <a:t>Keyless</a:t>
            </a:r>
            <a:r>
              <a:rPr lang="en-US" baseline="0" dirty="0"/>
              <a:t> functions (including Hashes)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58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none" dirty="0"/>
              <a:t>THIS IS THE MEAT AND POTATOES. </a:t>
            </a:r>
          </a:p>
          <a:p>
            <a:endParaRPr lang="en-US" b="1" u="none" dirty="0"/>
          </a:p>
          <a:p>
            <a:r>
              <a:rPr lang="en-US" b="1" u="none" dirty="0"/>
              <a:t>Add your lesson content here. ADD SLIDES or other resources here as you need them.</a:t>
            </a:r>
          </a:p>
          <a:p>
            <a:endParaRPr lang="en-US" b="1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6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51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7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none" dirty="0"/>
              <a:t>THIS IS THE MEAT AND POTATOES. </a:t>
            </a:r>
          </a:p>
          <a:p>
            <a:endParaRPr lang="en-US" b="1" u="none" dirty="0"/>
          </a:p>
          <a:p>
            <a:r>
              <a:rPr lang="en-US" b="1" u="none" dirty="0"/>
              <a:t>Add your lesson content here. ADD SLIDES or other resources here as you need them.</a:t>
            </a:r>
          </a:p>
          <a:p>
            <a:endParaRPr lang="en-US" b="1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92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none" dirty="0"/>
              <a:t>THIS IS THE MEAT AND POTATOES. </a:t>
            </a:r>
          </a:p>
          <a:p>
            <a:endParaRPr lang="en-US" b="1" u="none" dirty="0"/>
          </a:p>
          <a:p>
            <a:r>
              <a:rPr lang="en-US" b="1" u="none" dirty="0"/>
              <a:t>Add your lesson content here. ADD SLIDES or other resources here as you need them.</a:t>
            </a:r>
          </a:p>
          <a:p>
            <a:endParaRPr lang="en-US" b="1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98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none" dirty="0"/>
              <a:t>THIS IS THE MEAT AND POTATOES. </a:t>
            </a:r>
          </a:p>
          <a:p>
            <a:endParaRPr lang="en-US" b="1" u="none" dirty="0"/>
          </a:p>
          <a:p>
            <a:r>
              <a:rPr lang="en-US" b="1" u="none" dirty="0"/>
              <a:t>Add your lesson content here. ADD SLIDES or other resources here as you need them.</a:t>
            </a:r>
          </a:p>
          <a:p>
            <a:endParaRPr lang="en-US" b="1" u="none" dirty="0"/>
          </a:p>
          <a:p>
            <a:endParaRPr lang="en-US" b="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54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This step focuses the students on what they’ve just done. It cements the lesson-specific learning outcomes back into their minds, in the immediate context of the activity they’ve just completed.</a:t>
            </a:r>
          </a:p>
          <a:p>
            <a:endParaRPr lang="en-US" i="0" dirty="0"/>
          </a:p>
          <a:p>
            <a:r>
              <a:rPr lang="en-US" i="0" dirty="0"/>
              <a:t>ACTIVE POLL of the class: Instructor walks each outcome and gets the class to acknowledge it was covered.</a:t>
            </a:r>
          </a:p>
          <a:p>
            <a:endParaRPr lang="en-US" i="0" dirty="0"/>
          </a:p>
          <a:p>
            <a:pPr lvl="1"/>
            <a:r>
              <a:rPr lang="en-US" i="0" dirty="0"/>
              <a:t>“Did we cover Objective 1? Clear? Understood? “</a:t>
            </a:r>
          </a:p>
          <a:p>
            <a:pPr lvl="1"/>
            <a:r>
              <a:rPr lang="en-US" i="0" dirty="0"/>
              <a:t>“Did we cover Objective 2? …”</a:t>
            </a:r>
          </a:p>
          <a:p>
            <a:endParaRPr lang="en-US" dirty="0"/>
          </a:p>
          <a:p>
            <a:r>
              <a:rPr lang="en-US" dirty="0"/>
              <a:t>This makes it a lot harder for those who were present to say (to themselves) “we never covered that.”  It might, </a:t>
            </a:r>
            <a:r>
              <a:rPr lang="en-US" i="1" u="sng" dirty="0"/>
              <a:t>might</a:t>
            </a:r>
            <a:r>
              <a:rPr lang="en-US" i="0" u="none" dirty="0"/>
              <a:t> encourage some of the students to realize that they need to do more homework on that outcome!</a:t>
            </a:r>
          </a:p>
          <a:p>
            <a:endParaRPr lang="en-US" i="0" u="none" dirty="0"/>
          </a:p>
          <a:p>
            <a:r>
              <a:rPr lang="en-US" i="0" u="none" dirty="0"/>
              <a:t>By confirming coverage and time / activity spent on outcomes, you also </a:t>
            </a:r>
            <a:r>
              <a:rPr lang="en-US" i="1" u="sng" dirty="0"/>
              <a:t>protect</a:t>
            </a:r>
            <a:r>
              <a:rPr lang="en-US" i="0" u="none" dirty="0"/>
              <a:t> yourself as instructor and the program by setting the stage for the next step: follow-through and wrap-up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18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Terminal Learning</a:t>
            </a:r>
            <a:r>
              <a:rPr lang="en-US" baseline="0" dirty="0"/>
              <a:t> Objectives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   and corresponding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Enabling Objectives (NOT Electric Light Orchestra!)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7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Instructor specifies follow-on activities that will reinforce this learning.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 dirty="0"/>
              <a:t>Yes, these details are in the syllabus and in the Canvas lesson plan. ANCHOR them in the students’ minds, in the context of what they’ve just done.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0"/>
              <a:t>Then: </a:t>
            </a:r>
            <a:r>
              <a:rPr lang="en-US" i="0" dirty="0"/>
              <a:t>Declare victory and move on!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1B6E9-B266-4CC7-A022-965D3271DEC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88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8531-1D83-4368-BF3D-61E8E4AFF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C3DF6-52D3-44FF-846C-93942B7B0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1DDCF-BF7E-4526-AB44-E2E98AB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0891E-60E2-4DA1-A686-F010F28F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7A2A-6E02-472C-98F2-1041DEEA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5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4CF6-A6E8-4BE4-A48A-9521F861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17AB-D6B3-4830-8722-9E2789F7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B42A2-DCD5-4BD4-AD28-8CA6AA35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C8DF6-F6BD-4162-B73A-7FAAC7D1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7125-6C86-47DC-A912-6BDE8C8C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2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9127-5748-4E91-BA23-7FBD8D22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10C6D-184B-4071-A9EC-81E8BF280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DBBEF-3B2B-471C-9CD8-FEE12C42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BC878-EC2A-43E2-ACB8-51525200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05AA8-4A0E-4EB1-A1A2-873101F3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0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E75C-A549-4D0E-8B9F-866CF98D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9ADB3-4853-4418-A7E6-8195A106C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797C0-4EB0-4098-93D0-BAC7EE5B2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DCC40-E2BE-4600-8DF9-188123A5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23CF4-D975-40D6-B19A-435741B2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87B58-99F4-47AB-AB25-C27088FF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55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5F66-C1A6-4F00-8C8F-B3000222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1B421-4D5E-401C-934A-5CACBECA6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C8AC9-4AF2-4BD8-868C-1FCDD3195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79FB8-F340-418D-AF69-9D7704083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DC619-C39E-42DB-B357-371B42383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343A2-D092-4EBE-9CF0-3D2F63FD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B2F3A-B629-40BD-B21B-727A7159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19E58-71CF-4777-AB1F-97476FDE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733F-D123-4271-8087-7EF115D8F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6525D-22C1-4F96-8EC1-BB98BBD7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6638-06E2-406A-9186-904F11AB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FA8E7-8D02-4972-8469-3365A356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9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5B70B-A08B-4779-9973-391F306C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B0E49-354B-4139-95B1-7349737C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D478F-B566-4E91-972C-B70633D4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8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920C-DCFA-433D-8ADC-CD4F452F0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5F4FC-6B33-4BC8-851C-36D4527FD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989D5-25A3-403F-B1E9-B2DCF0C1C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DE89A-A4ED-4101-810E-2AA596B2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FE334-20F0-45FD-ADCE-AE82EFB6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F261A-337B-4276-860E-09561C1B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5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ECCD-BC7B-44E3-BD33-7F47422B7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6DF039-4FAB-4551-A335-84B6DA0F14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AFA80-ACBC-4101-A7C9-59D1D765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3F41F-BCCE-4C72-98EE-00D456F1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03FA4-A935-4B9B-942B-5E3E99316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932AB-79D0-4949-B294-00C314CD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73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227B-D0A4-4938-9622-49C5A22B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6A084-62CB-4328-ADC7-DCBEEAAEC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F97C6-1CAB-43BE-B717-3EEC2C47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57343-81D9-4742-B3E6-9A4FCA4D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74E2-80B8-425E-A2FC-9FE5FB478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4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1F528-DF03-4E9C-B0C7-9E71752C7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108E4-46A5-47FB-B63E-5A27FB723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70264-C1EC-4CE7-8B91-020D1C26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CACC3-C36F-49EC-AF48-8B12BCE0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4F7E4-6968-46C0-BDB5-C5E373EB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50170-316D-47A2-B035-0A9FC64B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24692-676E-44D1-BC71-900646742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9481-7E9B-4E4F-B7ED-FB8AFA1DC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1E61D-B4C4-47D6-9C93-1A79683FCFAE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CE236-EFDF-41F2-B94B-5FD65BD4E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A6C2-55D7-4333-82C8-C1A870518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8DB44-B645-4186-937B-1FDB58E674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6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9F80-3963-43F7-8826-F542C083B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610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Cyber Security: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 Encryption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09121-F10C-4A1E-A238-90499595B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6843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Dan Sullivan</a:t>
            </a:r>
          </a:p>
        </p:txBody>
      </p:sp>
    </p:spTree>
    <p:extLst>
      <p:ext uri="{BB962C8B-B14F-4D97-AF65-F5344CB8AC3E}">
        <p14:creationId xmlns:p14="http://schemas.microsoft.com/office/powerpoint/2010/main" val="154862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8ACCA-8F59-4F94-B865-C9BD3F05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8BBA-4931-4B94-8113-870D2E8F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different levels of-- and approaches to-- encryption</a:t>
            </a:r>
          </a:p>
          <a:p>
            <a:pPr lvl="1"/>
            <a:r>
              <a:rPr lang="en-US" dirty="0"/>
              <a:t>Case study - Review hybrid approach to online transaction</a:t>
            </a:r>
          </a:p>
          <a:p>
            <a:r>
              <a:rPr lang="en-US" dirty="0"/>
              <a:t>Describe and demonstrate three levels of encryption </a:t>
            </a:r>
            <a:r>
              <a:rPr lang="en-US" i="1" dirty="0"/>
              <a:t>(using code)</a:t>
            </a:r>
            <a:endParaRPr lang="en-US" dirty="0"/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Hash and SHA</a:t>
            </a:r>
          </a:p>
          <a:p>
            <a:pPr lvl="1"/>
            <a:r>
              <a:rPr lang="en-US" dirty="0"/>
              <a:t>Public/Private Key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1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A5B-3C9E-4995-8630-F33BE45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Business and Industry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0FE-1A72-48BE-A50A-8F73E05B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83240" cy="44862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Data encryption can be used as a measured response for mitigating information security risks</a:t>
            </a:r>
          </a:p>
          <a:p>
            <a:pPr lvl="1"/>
            <a:r>
              <a:rPr lang="en-US" dirty="0"/>
              <a:t>Different approaches should be used for different risk levels </a:t>
            </a:r>
          </a:p>
          <a:p>
            <a:pPr marL="914400" lvl="2" indent="0">
              <a:buNone/>
            </a:pPr>
            <a:r>
              <a:rPr lang="en-US" dirty="0"/>
              <a:t>(</a:t>
            </a:r>
            <a:r>
              <a:rPr lang="en-US" i="1" dirty="0"/>
              <a:t>according to </a:t>
            </a:r>
            <a:r>
              <a:rPr lang="en-US" dirty="0"/>
              <a:t>Asset Value, Vulnerability and Threat level)</a:t>
            </a:r>
          </a:p>
          <a:p>
            <a:pPr lvl="1"/>
            <a:r>
              <a:rPr lang="en-US" dirty="0"/>
              <a:t>Information risk should be considered separately </a:t>
            </a:r>
            <a:r>
              <a:rPr lang="en-US" i="1" dirty="0"/>
              <a:t>for data…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At Rest, In Transit, &amp; In Use</a:t>
            </a:r>
          </a:p>
        </p:txBody>
      </p:sp>
      <p:pic>
        <p:nvPicPr>
          <p:cNvPr id="1028" name="Picture 4" descr="Image result for piggy ba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5" y="4550513"/>
            <a:ext cx="3831177" cy="215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nuclear launch control panel cartoon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258" y="4905878"/>
            <a:ext cx="2081668" cy="1803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redit card carto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616" y="4905878"/>
            <a:ext cx="2452767" cy="171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68464" y="4275360"/>
            <a:ext cx="9822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(Information) Security is relative, not absolute.  Balance risk mitigation and acceptance</a:t>
            </a:r>
          </a:p>
        </p:txBody>
      </p:sp>
    </p:spTree>
    <p:extLst>
      <p:ext uri="{BB962C8B-B14F-4D97-AF65-F5344CB8AC3E}">
        <p14:creationId xmlns:p14="http://schemas.microsoft.com/office/powerpoint/2010/main" val="2377319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1DA9-C774-4E1E-8F47-58B7823D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We’ll Learn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B5625-43A3-45BC-A9FF-9EB544B55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Explain</a:t>
            </a:r>
          </a:p>
          <a:p>
            <a:pPr lvl="1"/>
            <a:r>
              <a:rPr lang="en-US" i="1" dirty="0"/>
              <a:t>Present concepts and applications associated with cyber-security</a:t>
            </a:r>
          </a:p>
          <a:p>
            <a:pPr marL="457200" lvl="1" indent="0">
              <a:buNone/>
            </a:pPr>
            <a:r>
              <a:rPr lang="en-US" i="1" dirty="0"/>
              <a:t>	Where does Encryption fit?</a:t>
            </a:r>
          </a:p>
          <a:p>
            <a:r>
              <a:rPr lang="en-US" i="1" dirty="0"/>
              <a:t>Demonstrate</a:t>
            </a:r>
          </a:p>
          <a:p>
            <a:pPr lvl="1"/>
            <a:r>
              <a:rPr lang="en-US" i="1" dirty="0"/>
              <a:t>Present and Discuss Case-Study, highlight different approaches</a:t>
            </a:r>
          </a:p>
          <a:p>
            <a:r>
              <a:rPr lang="en-US" i="1" dirty="0"/>
              <a:t>Engage, explore, and familiarize</a:t>
            </a:r>
          </a:p>
          <a:p>
            <a:pPr lvl="1"/>
            <a:r>
              <a:rPr lang="en-US" i="1" dirty="0"/>
              <a:t>Discuss and Develop Code for Simple Cipher algorithm</a:t>
            </a:r>
          </a:p>
          <a:p>
            <a:r>
              <a:rPr lang="en-US" i="1" dirty="0"/>
              <a:t>Students demonstrate their understanding</a:t>
            </a:r>
          </a:p>
          <a:p>
            <a:pPr lvl="1"/>
            <a:r>
              <a:rPr lang="en-US" i="1" dirty="0"/>
              <a:t>Discuss and Implement solution for more advanced </a:t>
            </a:r>
            <a:r>
              <a:rPr lang="en-US" i="1" dirty="0" err="1"/>
              <a:t>en</a:t>
            </a:r>
            <a:r>
              <a:rPr lang="en-US" i="1" dirty="0"/>
              <a:t>-/decryption</a:t>
            </a:r>
          </a:p>
          <a:p>
            <a:r>
              <a:rPr lang="en-US" i="1" dirty="0"/>
              <a:t>Review, wrap-up, and follow-up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0425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91E1-EE7F-4384-B713-2D9ADDA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9511" cy="1325563"/>
          </a:xfrm>
        </p:spPr>
        <p:txBody>
          <a:bodyPr/>
          <a:lstStyle/>
          <a:p>
            <a:r>
              <a:rPr lang="en-US" dirty="0"/>
              <a:t>Step By Step…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0D16-5887-4059-A898-45630421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 What is Data Security?</a:t>
            </a:r>
          </a:p>
          <a:p>
            <a:pPr marL="457200" lvl="1" indent="0">
              <a:buNone/>
            </a:pPr>
            <a:r>
              <a:rPr lang="en-US" dirty="0"/>
              <a:t>1.1  Identify and Assess Security Risk</a:t>
            </a:r>
          </a:p>
        </p:txBody>
      </p:sp>
    </p:spTree>
    <p:extLst>
      <p:ext uri="{BB962C8B-B14F-4D97-AF65-F5344CB8AC3E}">
        <p14:creationId xmlns:p14="http://schemas.microsoft.com/office/powerpoint/2010/main" val="2755454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… à go-go</a:t>
            </a:r>
            <a:br>
              <a:rPr lang="en-US" dirty="0"/>
            </a:br>
            <a:r>
              <a:rPr lang="en-US" i="1" dirty="0"/>
              <a:t>(a mini lesson)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18 weeks of cyber-security stuffed into 3 slides and 5 minutes or less…</a:t>
            </a:r>
          </a:p>
        </p:txBody>
      </p:sp>
    </p:spTree>
    <p:extLst>
      <p:ext uri="{BB962C8B-B14F-4D97-AF65-F5344CB8AC3E}">
        <p14:creationId xmlns:p14="http://schemas.microsoft.com/office/powerpoint/2010/main" val="134734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A5B-3C9E-4995-8630-F33BE45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  </a:t>
            </a:r>
            <a:r>
              <a:rPr lang="en-US" i="1" dirty="0"/>
              <a:t>A Measured 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0FE-1A72-48BE-A50A-8F73E05B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83240" cy="448627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total cost investment for protecting an asset shouldn’t significantly exceed the value of the asset. </a:t>
            </a:r>
          </a:p>
          <a:p>
            <a:pPr lvl="2"/>
            <a:r>
              <a:rPr lang="en-US" dirty="0"/>
              <a:t>Teenager’s diary?   </a:t>
            </a:r>
            <a:r>
              <a:rPr lang="en-US" i="1" dirty="0"/>
              <a:t>Concealed under pillow/mattress?</a:t>
            </a:r>
            <a:endParaRPr lang="en-US" dirty="0"/>
          </a:p>
          <a:p>
            <a:pPr lvl="2"/>
            <a:r>
              <a:rPr lang="en-US" dirty="0"/>
              <a:t>Bicycle?   </a:t>
            </a:r>
            <a:r>
              <a:rPr lang="en-US" i="1" dirty="0"/>
              <a:t>Padlock and cable? Locked garage?</a:t>
            </a:r>
          </a:p>
          <a:p>
            <a:pPr lvl="2"/>
            <a:r>
              <a:rPr lang="en-US" dirty="0"/>
              <a:t>Passport &amp; spending cash?   </a:t>
            </a:r>
            <a:r>
              <a:rPr lang="en-US" i="1" dirty="0"/>
              <a:t>Hotel room safe?</a:t>
            </a:r>
            <a:endParaRPr lang="en-US" dirty="0"/>
          </a:p>
          <a:p>
            <a:pPr lvl="2"/>
            <a:r>
              <a:rPr lang="en-US" dirty="0"/>
              <a:t>…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 System may be made </a:t>
            </a:r>
            <a:r>
              <a:rPr lang="en-US" i="1" dirty="0"/>
              <a:t>more </a:t>
            </a:r>
            <a:r>
              <a:rPr lang="en-US" dirty="0"/>
              <a:t>secure, but never </a:t>
            </a:r>
            <a:r>
              <a:rPr lang="en-US" i="1" dirty="0"/>
              <a:t>entirely </a:t>
            </a:r>
            <a:r>
              <a:rPr lang="en-US" dirty="0"/>
              <a:t>secure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65231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A5B-3C9E-4995-8630-F33BE45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  </a:t>
            </a:r>
            <a:r>
              <a:rPr lang="en-US" i="1" dirty="0"/>
              <a:t>Prioritized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0FE-1A72-48BE-A50A-8F73E05B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83240" cy="44862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Assets may  </a:t>
            </a:r>
            <a:r>
              <a:rPr lang="en-US" i="1" dirty="0"/>
              <a:t>include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Personal Privacy</a:t>
            </a:r>
          </a:p>
          <a:p>
            <a:pPr lvl="3"/>
            <a:r>
              <a:rPr lang="en-US" dirty="0"/>
              <a:t>Medical, Financial, Social, … </a:t>
            </a:r>
            <a:r>
              <a:rPr lang="en-US" i="1" dirty="0"/>
              <a:t>other </a:t>
            </a:r>
            <a:endParaRPr lang="en-US" dirty="0"/>
          </a:p>
          <a:p>
            <a:pPr lvl="2"/>
            <a:r>
              <a:rPr lang="en-US" dirty="0"/>
              <a:t>Corporate</a:t>
            </a:r>
          </a:p>
          <a:p>
            <a:pPr lvl="3"/>
            <a:r>
              <a:rPr lang="en-US" dirty="0"/>
              <a:t>Intellectual Property, Human Resource data, Business Plans, … </a:t>
            </a:r>
          </a:p>
          <a:p>
            <a:pPr lvl="2"/>
            <a:r>
              <a:rPr lang="en-US" dirty="0"/>
              <a:t>National Security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Further classification by  </a:t>
            </a:r>
            <a:r>
              <a:rPr lang="en-US" i="1" dirty="0"/>
              <a:t>level of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Confidentiality</a:t>
            </a:r>
          </a:p>
          <a:p>
            <a:pPr lvl="2"/>
            <a:r>
              <a:rPr lang="en-US" dirty="0"/>
              <a:t>Sensitivity</a:t>
            </a:r>
          </a:p>
          <a:p>
            <a:pPr lvl="2"/>
            <a:r>
              <a:rPr lang="en-US" dirty="0"/>
              <a:t>Value</a:t>
            </a:r>
          </a:p>
          <a:p>
            <a:pPr lvl="2"/>
            <a:r>
              <a:rPr lang="en-US" dirty="0"/>
              <a:t>Criticality</a:t>
            </a:r>
          </a:p>
        </p:txBody>
      </p:sp>
    </p:spTree>
    <p:extLst>
      <p:ext uri="{BB962C8B-B14F-4D97-AF65-F5344CB8AC3E}">
        <p14:creationId xmlns:p14="http://schemas.microsoft.com/office/powerpoint/2010/main" val="91199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A5B-3C9E-4995-8630-F33BE45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  </a:t>
            </a:r>
            <a:r>
              <a:rPr lang="en-US" i="1" dirty="0"/>
              <a:t>Identify Security Threats and Risk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0FE-1A72-48BE-A50A-8F73E05B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83240" cy="3984555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Threats to information security </a:t>
            </a:r>
            <a:r>
              <a:rPr lang="en-US" i="1" dirty="0"/>
              <a:t>systems</a:t>
            </a:r>
            <a:r>
              <a:rPr lang="en-US" dirty="0"/>
              <a:t> include interception, interruption, modification, and fabrication</a:t>
            </a:r>
          </a:p>
          <a:p>
            <a:pPr lvl="1"/>
            <a:r>
              <a:rPr lang="en-US" dirty="0"/>
              <a:t>Protecting Data:</a:t>
            </a:r>
          </a:p>
          <a:p>
            <a:pPr lvl="2"/>
            <a:r>
              <a:rPr lang="en-US" dirty="0"/>
              <a:t>At Rest</a:t>
            </a:r>
          </a:p>
          <a:p>
            <a:pPr lvl="3"/>
            <a:r>
              <a:rPr lang="en-US" dirty="0"/>
              <a:t>Physical security  </a:t>
            </a:r>
            <a:r>
              <a:rPr lang="en-US" i="1" dirty="0"/>
              <a:t>(Locks? Redundancy? Backups? UPSs? </a:t>
            </a:r>
            <a:endParaRPr lang="en-US" dirty="0"/>
          </a:p>
          <a:p>
            <a:pPr lvl="3"/>
            <a:r>
              <a:rPr lang="en-US" dirty="0"/>
              <a:t>Restricted access  </a:t>
            </a:r>
            <a:r>
              <a:rPr lang="en-US" i="1" dirty="0"/>
              <a:t>(User- and role-based access? Multi-part authentication?)</a:t>
            </a:r>
          </a:p>
          <a:p>
            <a:pPr lvl="3"/>
            <a:r>
              <a:rPr lang="en-US" dirty="0"/>
              <a:t>Encryption  </a:t>
            </a:r>
            <a:r>
              <a:rPr lang="en-US" i="1" dirty="0"/>
              <a:t>(function? Symmetric key? Asymmetric key?) </a:t>
            </a:r>
            <a:endParaRPr lang="en-US" dirty="0"/>
          </a:p>
          <a:p>
            <a:pPr lvl="2"/>
            <a:r>
              <a:rPr lang="en-US" dirty="0"/>
              <a:t>In Transit</a:t>
            </a:r>
          </a:p>
          <a:p>
            <a:pPr lvl="3"/>
            <a:r>
              <a:rPr lang="en-US" dirty="0"/>
              <a:t>End-to-end encryption </a:t>
            </a:r>
            <a:r>
              <a:rPr lang="en-US" i="1" dirty="0"/>
              <a:t>(SSL? VPN?)</a:t>
            </a:r>
            <a:endParaRPr lang="en-US" dirty="0"/>
          </a:p>
          <a:p>
            <a:pPr lvl="3"/>
            <a:r>
              <a:rPr lang="en-US" dirty="0"/>
              <a:t>Alternative trans-media </a:t>
            </a:r>
            <a:r>
              <a:rPr lang="en-US" i="1" dirty="0"/>
              <a:t>(RF? Copper? Fiber-optic)</a:t>
            </a:r>
            <a:endParaRPr lang="en-US" dirty="0"/>
          </a:p>
          <a:p>
            <a:pPr lvl="2"/>
            <a:r>
              <a:rPr lang="en-US" dirty="0"/>
              <a:t>In Use</a:t>
            </a:r>
          </a:p>
          <a:p>
            <a:pPr lvl="3"/>
            <a:r>
              <a:rPr lang="en-US" dirty="0"/>
              <a:t>Processing  </a:t>
            </a:r>
            <a:r>
              <a:rPr lang="en-US" i="1" dirty="0"/>
              <a:t>(dedicated server? Protected workstations?) </a:t>
            </a:r>
          </a:p>
          <a:p>
            <a:pPr lvl="3"/>
            <a:r>
              <a:rPr lang="en-US" dirty="0"/>
              <a:t>End-points  </a:t>
            </a:r>
            <a:r>
              <a:rPr lang="en-US" i="1" dirty="0"/>
              <a:t>(user awareness? social engineering?)</a:t>
            </a:r>
            <a:endParaRPr lang="en-US" dirty="0"/>
          </a:p>
          <a:p>
            <a:pPr lvl="3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68464" y="5816528"/>
            <a:ext cx="9822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How does unauthorized access occur?    …   The easiest way</a:t>
            </a:r>
          </a:p>
        </p:txBody>
      </p:sp>
    </p:spTree>
    <p:extLst>
      <p:ext uri="{BB962C8B-B14F-4D97-AF65-F5344CB8AC3E}">
        <p14:creationId xmlns:p14="http://schemas.microsoft.com/office/powerpoint/2010/main" val="287643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4A5B-3C9E-4995-8630-F33BE457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  </a:t>
            </a:r>
            <a:r>
              <a:rPr lang="en-US" i="1" dirty="0"/>
              <a:t>Encryption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A0FE-1A72-48BE-A50A-8F73E05B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83240" cy="3984555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Encryption can be used to protect data in storage and transit by obscuring it from unintentional interception</a:t>
            </a:r>
          </a:p>
          <a:p>
            <a:pPr lvl="1"/>
            <a:r>
              <a:rPr lang="en-US" dirty="0"/>
              <a:t>Categories of encryption include:</a:t>
            </a:r>
          </a:p>
          <a:p>
            <a:pPr lvl="2"/>
            <a:r>
              <a:rPr lang="en-US" dirty="0"/>
              <a:t>(Keyless) Functional algorithms</a:t>
            </a:r>
          </a:p>
          <a:p>
            <a:pPr lvl="3"/>
            <a:r>
              <a:rPr lang="en-US" dirty="0"/>
              <a:t>No key is required, applies a one-way algorithm to the subject data</a:t>
            </a:r>
          </a:p>
          <a:p>
            <a:pPr lvl="2"/>
            <a:r>
              <a:rPr lang="en-US" dirty="0"/>
              <a:t>Symmetric Key</a:t>
            </a:r>
          </a:p>
          <a:p>
            <a:pPr lvl="3"/>
            <a:r>
              <a:rPr lang="en-US" dirty="0"/>
              <a:t>Secret key algorithm. Requires both producer and consumer share keys</a:t>
            </a:r>
          </a:p>
          <a:p>
            <a:pPr lvl="2"/>
            <a:r>
              <a:rPr lang="en-US" dirty="0"/>
              <a:t>Asymmetric Key</a:t>
            </a:r>
          </a:p>
          <a:p>
            <a:pPr lvl="3"/>
            <a:r>
              <a:rPr lang="en-US" dirty="0"/>
              <a:t>Public key/Private key. Used to protect content as well as authenticate point of origin</a:t>
            </a:r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91E1-EE7F-4384-B713-2D9ADDA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9511" cy="1325563"/>
          </a:xfrm>
        </p:spPr>
        <p:txBody>
          <a:bodyPr/>
          <a:lstStyle/>
          <a:p>
            <a:r>
              <a:rPr lang="en-US" dirty="0"/>
              <a:t>Step By Step…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0D16-5887-4059-A898-45630421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  What is Data Security?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1.1  Identify and Assess Security Risk</a:t>
            </a:r>
          </a:p>
          <a:p>
            <a:pPr marL="457200" lvl="1" indent="0">
              <a:buNone/>
            </a:pPr>
            <a:r>
              <a:rPr lang="en-US" dirty="0"/>
              <a:t>1.2  Case Study:  Implementing an </a:t>
            </a:r>
            <a:r>
              <a:rPr lang="en-US" b="1" dirty="0"/>
              <a:t>online payment system</a:t>
            </a:r>
          </a:p>
        </p:txBody>
      </p:sp>
    </p:spTree>
    <p:extLst>
      <p:ext uri="{BB962C8B-B14F-4D97-AF65-F5344CB8AC3E}">
        <p14:creationId xmlns:p14="http://schemas.microsoft.com/office/powerpoint/2010/main" val="1471154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Payment System – </a:t>
            </a:r>
            <a:r>
              <a:rPr lang="en-US" i="1" dirty="0"/>
              <a:t>User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As a</a:t>
            </a:r>
            <a:r>
              <a:rPr lang="en-US" dirty="0"/>
              <a:t> customer, </a:t>
            </a:r>
            <a:br>
              <a:rPr lang="en-US" dirty="0"/>
            </a:br>
            <a:r>
              <a:rPr lang="en-US" b="1" dirty="0"/>
              <a:t>I want </a:t>
            </a:r>
            <a:r>
              <a:rPr lang="en-US" dirty="0"/>
              <a:t>to submit </a:t>
            </a:r>
            <a:r>
              <a:rPr lang="en-US" i="1" u="sng" dirty="0"/>
              <a:t>secure</a:t>
            </a:r>
            <a:r>
              <a:rPr lang="en-US" dirty="0"/>
              <a:t> online payments, </a:t>
            </a:r>
            <a:br>
              <a:rPr lang="en-US" dirty="0"/>
            </a:br>
            <a:r>
              <a:rPr lang="en-US" b="1" dirty="0"/>
              <a:t>So that </a:t>
            </a:r>
            <a:r>
              <a:rPr lang="en-US" dirty="0"/>
              <a:t>I can complete transactions quickly and efficiently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As a </a:t>
            </a:r>
            <a:r>
              <a:rPr lang="en-US" dirty="0"/>
              <a:t>business owner,</a:t>
            </a:r>
            <a:br>
              <a:rPr lang="en-US" dirty="0"/>
            </a:br>
            <a:r>
              <a:rPr lang="en-US" b="1" dirty="0"/>
              <a:t>I need </a:t>
            </a:r>
            <a:r>
              <a:rPr lang="en-US" dirty="0"/>
              <a:t>to provide a simple and </a:t>
            </a:r>
            <a:r>
              <a:rPr lang="en-US" i="1" u="sng" dirty="0"/>
              <a:t>secure</a:t>
            </a:r>
            <a:r>
              <a:rPr lang="en-US" dirty="0"/>
              <a:t> online payment system</a:t>
            </a:r>
            <a:br>
              <a:rPr lang="en-US" dirty="0"/>
            </a:br>
            <a:r>
              <a:rPr lang="en-US" b="1" dirty="0"/>
              <a:t>So that </a:t>
            </a:r>
            <a:r>
              <a:rPr lang="en-US" dirty="0"/>
              <a:t>I can remain competitive</a:t>
            </a:r>
          </a:p>
          <a:p>
            <a:endParaRPr lang="en-US" b="1" dirty="0"/>
          </a:p>
          <a:p>
            <a:r>
              <a:rPr lang="en-US" b="1" dirty="0"/>
              <a:t>As a </a:t>
            </a:r>
            <a:r>
              <a:rPr lang="en-US" dirty="0"/>
              <a:t>business accountant,</a:t>
            </a:r>
            <a:br>
              <a:rPr lang="en-US" dirty="0"/>
            </a:br>
            <a:r>
              <a:rPr lang="en-US" b="1" dirty="0"/>
              <a:t>I need </a:t>
            </a:r>
            <a:r>
              <a:rPr lang="en-US" dirty="0"/>
              <a:t>to </a:t>
            </a:r>
            <a:r>
              <a:rPr lang="en-US" i="1" u="sng" dirty="0"/>
              <a:t>securely</a:t>
            </a:r>
            <a:r>
              <a:rPr lang="en-US" dirty="0"/>
              <a:t> process online payments</a:t>
            </a:r>
            <a:br>
              <a:rPr lang="en-US" dirty="0"/>
            </a:br>
            <a:r>
              <a:rPr lang="en-US" b="1" dirty="0"/>
              <a:t>So that </a:t>
            </a:r>
            <a:r>
              <a:rPr lang="en-US" dirty="0"/>
              <a:t>the customer’s and business’ interests are not at risk</a:t>
            </a:r>
          </a:p>
        </p:txBody>
      </p:sp>
    </p:spTree>
    <p:extLst>
      <p:ext uri="{BB962C8B-B14F-4D97-AF65-F5344CB8AC3E}">
        <p14:creationId xmlns:p14="http://schemas.microsoft.com/office/powerpoint/2010/main" val="3705143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Payment System – Data Flow Concept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010" y="1403609"/>
            <a:ext cx="9099979" cy="4288004"/>
          </a:xfrm>
        </p:spPr>
      </p:pic>
      <p:sp>
        <p:nvSpPr>
          <p:cNvPr id="5" name="TextBox 4"/>
          <p:cNvSpPr txBox="1"/>
          <p:nvPr/>
        </p:nvSpPr>
        <p:spPr>
          <a:xfrm>
            <a:off x="1184643" y="5933486"/>
            <a:ext cx="9822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Question:    How many security vulnerabilities can you identify?</a:t>
            </a:r>
          </a:p>
        </p:txBody>
      </p:sp>
    </p:spTree>
    <p:extLst>
      <p:ext uri="{BB962C8B-B14F-4D97-AF65-F5344CB8AC3E}">
        <p14:creationId xmlns:p14="http://schemas.microsoft.com/office/powerpoint/2010/main" val="1767416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spy vs sp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850" y="715360"/>
            <a:ext cx="7346950" cy="501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84643" y="5933486"/>
            <a:ext cx="98227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Question:    Can we make the transaction 100% secure?</a:t>
            </a:r>
          </a:p>
        </p:txBody>
      </p:sp>
    </p:spTree>
    <p:extLst>
      <p:ext uri="{BB962C8B-B14F-4D97-AF65-F5344CB8AC3E}">
        <p14:creationId xmlns:p14="http://schemas.microsoft.com/office/powerpoint/2010/main" val="210621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Online Payments - Solution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8288"/>
            <a:ext cx="6480953" cy="4866481"/>
          </a:xfrm>
        </p:spPr>
      </p:pic>
      <p:sp>
        <p:nvSpPr>
          <p:cNvPr id="5" name="TextBox 4"/>
          <p:cNvSpPr txBox="1"/>
          <p:nvPr/>
        </p:nvSpPr>
        <p:spPr>
          <a:xfrm>
            <a:off x="7616825" y="2967037"/>
            <a:ext cx="4127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Transmit payment data over encrypted (SSL) connection </a:t>
            </a:r>
            <a:r>
              <a:rPr lang="en-US" i="1" dirty="0"/>
              <a:t>(https)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Encrypt data (client-side*) prior 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writing to database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Transmitting </a:t>
            </a:r>
            <a:r>
              <a:rPr lang="en-US" i="1" dirty="0"/>
              <a:t>(https)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server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* Browser </a:t>
            </a:r>
            <a:r>
              <a:rPr lang="en-US" i="1" dirty="0" err="1"/>
              <a:t>javascript</a:t>
            </a:r>
            <a:r>
              <a:rPr lang="en-US" i="1" dirty="0"/>
              <a:t> </a:t>
            </a:r>
            <a:r>
              <a:rPr lang="en-US" dirty="0"/>
              <a:t>processing with public key encryption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895850" y="3257550"/>
            <a:ext cx="2924175" cy="1771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6743700" y="4514850"/>
            <a:ext cx="1647825" cy="238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162425" y="4819650"/>
            <a:ext cx="42291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000750" y="5105400"/>
            <a:ext cx="2390775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028950" y="4248150"/>
            <a:ext cx="4886325" cy="1095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355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Payment System – </a:t>
            </a:r>
            <a:r>
              <a:rPr lang="en-US" i="1" dirty="0"/>
              <a:t>Solution Part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129" y="1690688"/>
            <a:ext cx="6489991" cy="4861719"/>
          </a:xfrm>
        </p:spPr>
      </p:pic>
      <p:sp>
        <p:nvSpPr>
          <p:cNvPr id="5" name="TextBox 4"/>
          <p:cNvSpPr txBox="1"/>
          <p:nvPr/>
        </p:nvSpPr>
        <p:spPr>
          <a:xfrm>
            <a:off x="454025" y="2862262"/>
            <a:ext cx="4127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Payment data remains encrypted for all server side handling and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offline application to decrypt data using private key on trusted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 private key from unauthorized use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controlling limited installation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 authenticating authorized user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181475" y="4895850"/>
            <a:ext cx="1057275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62425" y="5486400"/>
            <a:ext cx="1181100" cy="361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33825" y="4133850"/>
            <a:ext cx="4619625" cy="1171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171950" y="3286125"/>
            <a:ext cx="3228975" cy="390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8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Payment System – </a:t>
            </a:r>
            <a:r>
              <a:rPr lang="en-US" i="1" dirty="0"/>
              <a:t>End-to-End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30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91E1-EE7F-4384-B713-2D9ADDA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9511" cy="1325563"/>
          </a:xfrm>
        </p:spPr>
        <p:txBody>
          <a:bodyPr/>
          <a:lstStyle/>
          <a:p>
            <a:r>
              <a:rPr lang="en-US" dirty="0"/>
              <a:t>Step By Step…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0D16-5887-4059-A898-45630421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  What is Data Security?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1.1  Identify and Assess Security Risk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1.2  Case Study:  Implementing an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online payment system</a:t>
            </a:r>
          </a:p>
          <a:p>
            <a:pPr marL="0" indent="0">
              <a:buNone/>
            </a:pPr>
            <a:r>
              <a:rPr lang="en-US" sz="2400" dirty="0"/>
              <a:t>2.  Encrypting &amp; Decrypting Data</a:t>
            </a:r>
          </a:p>
          <a:p>
            <a:pPr marL="457200" lvl="1" indent="0">
              <a:buNone/>
            </a:pPr>
            <a:r>
              <a:rPr lang="en-US" dirty="0"/>
              <a:t>2.1  Substitution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37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Caesar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known as a shift- or substitution- cipher, each character of the plain text is replaced with another from a known function </a:t>
            </a:r>
            <a:r>
              <a:rPr lang="en-US" i="1" dirty="0"/>
              <a:t>f(x)</a:t>
            </a:r>
            <a:endParaRPr lang="en-US" dirty="0"/>
          </a:p>
          <a:p>
            <a:endParaRPr lang="en-US" i="1" dirty="0"/>
          </a:p>
          <a:p>
            <a:r>
              <a:rPr lang="en-US" dirty="0"/>
              <a:t>This Wikipedia example illustrates a “left rotation of three places”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7" y="3729037"/>
            <a:ext cx="4276725" cy="752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6" y="4616449"/>
            <a:ext cx="6410325" cy="771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4642" y="5738593"/>
            <a:ext cx="982271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i="1" dirty="0"/>
              <a:t>Exercise 1:    Write a method to implement a shift encryption for a given integer number of digits</a:t>
            </a:r>
          </a:p>
          <a:p>
            <a:pPr algn="ctr"/>
            <a:r>
              <a:rPr lang="en-US" i="1" dirty="0"/>
              <a:t>Question:   Will this method decrypt your message using the negative value of the same parameter?</a:t>
            </a:r>
          </a:p>
        </p:txBody>
      </p:sp>
    </p:spTree>
    <p:extLst>
      <p:ext uri="{BB962C8B-B14F-4D97-AF65-F5344CB8AC3E}">
        <p14:creationId xmlns:p14="http://schemas.microsoft.com/office/powerpoint/2010/main" val="364457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/>
          </a:bodyPr>
          <a:lstStyle/>
          <a:p>
            <a:r>
              <a:rPr lang="en-US" sz="1400" dirty="0"/>
              <a:t>sample solution</a:t>
            </a:r>
          </a:p>
        </p:txBody>
      </p:sp>
      <p:pic>
        <p:nvPicPr>
          <p:cNvPr id="7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141" y="812800"/>
            <a:ext cx="6657718" cy="558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88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660" y="1079500"/>
            <a:ext cx="7512679" cy="5072063"/>
          </a:xfrm>
          <a:prstGeom prst="rect">
            <a:avLst/>
          </a:prstGeom>
        </p:spPr>
      </p:pic>
      <p:sp>
        <p:nvSpPr>
          <p:cNvPr id="9" name="Title 4"/>
          <p:cNvSpPr txBox="1">
            <a:spLocks/>
          </p:cNvSpPr>
          <p:nvPr/>
        </p:nvSpPr>
        <p:spPr>
          <a:xfrm>
            <a:off x="838200" y="365125"/>
            <a:ext cx="10515600" cy="447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sample unit test</a:t>
            </a:r>
          </a:p>
        </p:txBody>
      </p:sp>
    </p:spTree>
    <p:extLst>
      <p:ext uri="{BB962C8B-B14F-4D97-AF65-F5344CB8AC3E}">
        <p14:creationId xmlns:p14="http://schemas.microsoft.com/office/powerpoint/2010/main" val="4284688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91E1-EE7F-4384-B713-2D9ADDA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9511" cy="1325563"/>
          </a:xfrm>
        </p:spPr>
        <p:txBody>
          <a:bodyPr/>
          <a:lstStyle/>
          <a:p>
            <a:r>
              <a:rPr lang="en-US" dirty="0"/>
              <a:t>Step By Step…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0D16-5887-4059-A898-45630421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  What is Data Security?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1.1  Identify and Assess Security Risk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1.2  Case Study:  Implementing an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online payment system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2.  Encrypting &amp; Decrypting Data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2.1  Substitution cipher</a:t>
            </a:r>
          </a:p>
          <a:p>
            <a:pPr marL="457200" lvl="1" indent="0">
              <a:buNone/>
            </a:pPr>
            <a:r>
              <a:rPr lang="en-US" dirty="0"/>
              <a:t>2.2  Hash functions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694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52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91E1-EE7F-4384-B713-2D9ADDA2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9511" cy="1325563"/>
          </a:xfrm>
        </p:spPr>
        <p:txBody>
          <a:bodyPr/>
          <a:lstStyle/>
          <a:p>
            <a:r>
              <a:rPr lang="en-US" dirty="0"/>
              <a:t>Step By Step…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0D16-5887-4059-A898-45630421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  What is Data Security?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1.1  Identify and Assess Security Risk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1.2  Case Study:  Implementing an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online payment system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</a:rPr>
              <a:t>2.  Encrypting &amp; Decrypting Data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2.1  Substitution cipher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2.2  Hash functions</a:t>
            </a:r>
          </a:p>
          <a:p>
            <a:pPr marL="457200" lvl="1" indent="0">
              <a:buNone/>
            </a:pPr>
            <a:r>
              <a:rPr lang="en-US" dirty="0"/>
              <a:t>2.3  </a:t>
            </a:r>
            <a:r>
              <a:rPr lang="en-US" dirty="0" err="1"/>
              <a:t>Assymetric</a:t>
            </a:r>
            <a:r>
              <a:rPr lang="en-US" dirty="0"/>
              <a:t> ( Public key / Private key ) encryption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135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79F5-A0DC-4D28-B1A8-4F22500D6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Just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9039-045B-4CAB-82F7-B2425FF8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112" y="1825625"/>
            <a:ext cx="7855688" cy="4351338"/>
          </a:xfrm>
        </p:spPr>
        <p:txBody>
          <a:bodyPr/>
          <a:lstStyle/>
          <a:p>
            <a:r>
              <a:rPr lang="en-US" dirty="0"/>
              <a:t>There are varying degrees of encryption</a:t>
            </a:r>
          </a:p>
          <a:p>
            <a:r>
              <a:rPr lang="en-US" dirty="0"/>
              <a:t>How much is considered secure?</a:t>
            </a:r>
          </a:p>
          <a:p>
            <a:r>
              <a:rPr lang="en-US" dirty="0"/>
              <a:t>Consider cost/risk for a given encryption level </a:t>
            </a:r>
          </a:p>
          <a:p>
            <a:r>
              <a:rPr lang="en-US" dirty="0"/>
              <a:t>Implement the end-to-end system</a:t>
            </a:r>
          </a:p>
          <a:p>
            <a:r>
              <a:rPr lang="en-US" dirty="0"/>
              <a:t>Factor maintenance, training and UI/UX in solution</a:t>
            </a:r>
          </a:p>
          <a:p>
            <a:r>
              <a:rPr lang="en-US" dirty="0"/>
              <a:t>Rinse and repeat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739039-045B-4CAB-82F7-B2425FF880D6}"/>
              </a:ext>
            </a:extLst>
          </p:cNvPr>
          <p:cNvSpPr txBox="1">
            <a:spLocks/>
          </p:cNvSpPr>
          <p:nvPr/>
        </p:nvSpPr>
        <p:spPr>
          <a:xfrm>
            <a:off x="318978" y="1825625"/>
            <a:ext cx="2573078" cy="435133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i="1" dirty="0"/>
              <a:t>Remember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Understand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Apply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Analyze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Evaluate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Create</a:t>
            </a:r>
          </a:p>
        </p:txBody>
      </p:sp>
    </p:spTree>
    <p:extLst>
      <p:ext uri="{BB962C8B-B14F-4D97-AF65-F5344CB8AC3E}">
        <p14:creationId xmlns:p14="http://schemas.microsoft.com/office/powerpoint/2010/main" val="10169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redit card cartoon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75" y="1032944"/>
            <a:ext cx="6655982" cy="499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768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88BBA-4931-4B94-8113-870D2E8FF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Terminal Learning Objective(s)</a:t>
            </a:r>
          </a:p>
          <a:p>
            <a:pPr lvl="1"/>
            <a:r>
              <a:rPr lang="en-US" i="1" dirty="0"/>
              <a:t>Enabling Learning Objective(s)</a:t>
            </a:r>
          </a:p>
          <a:p>
            <a:endParaRPr lang="en-US" dirty="0"/>
          </a:p>
          <a:p>
            <a:r>
              <a:rPr lang="en-US" dirty="0"/>
              <a:t>TLO1: Describe levels and approaches to encryption solutions</a:t>
            </a:r>
          </a:p>
          <a:p>
            <a:pPr lvl="1"/>
            <a:r>
              <a:rPr lang="en-US" dirty="0"/>
              <a:t>ELO1.1: Identify Asset, Threat, and Vulnerability classification</a:t>
            </a:r>
          </a:p>
          <a:p>
            <a:pPr lvl="1"/>
            <a:r>
              <a:rPr lang="en-US" dirty="0"/>
              <a:t>ELO1.2: Discuss Case Study to identify risk and response</a:t>
            </a:r>
          </a:p>
          <a:p>
            <a:r>
              <a:rPr lang="en-US" dirty="0"/>
              <a:t>TLO2: Identify and compare three encryption levels</a:t>
            </a:r>
          </a:p>
          <a:p>
            <a:pPr lvl="1"/>
            <a:r>
              <a:rPr lang="en-US" dirty="0"/>
              <a:t>ELO2.1: Describe simple function execution algorithms</a:t>
            </a:r>
          </a:p>
          <a:p>
            <a:pPr lvl="2"/>
            <a:r>
              <a:rPr lang="en-US" dirty="0"/>
              <a:t>Ex 1. Implement simple “Caesar cipher” algorithm</a:t>
            </a:r>
          </a:p>
          <a:p>
            <a:pPr lvl="1"/>
            <a:r>
              <a:rPr lang="en-US" dirty="0"/>
              <a:t>ELO2.2: Describe Hash and SHA</a:t>
            </a:r>
          </a:p>
          <a:p>
            <a:pPr lvl="2"/>
            <a:r>
              <a:rPr lang="en-US" dirty="0"/>
              <a:t>Ex 2. Apply third-party encryption methods to code</a:t>
            </a:r>
          </a:p>
          <a:p>
            <a:pPr lvl="1"/>
            <a:r>
              <a:rPr lang="en-US" dirty="0"/>
              <a:t>ELO2.3: Public/Private Key</a:t>
            </a:r>
          </a:p>
          <a:p>
            <a:pPr lvl="2"/>
            <a:r>
              <a:rPr lang="en-US" i="1" dirty="0"/>
              <a:t>End-to-end demonstration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71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0E11D-6188-460B-9AA4-EC6DED2C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Follow-On: Homework, Exercises, Labs…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93FE-0619-4115-BD95-B6F20FD01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i="1" dirty="0"/>
              <a:t>Homework assignments</a:t>
            </a:r>
          </a:p>
          <a:p>
            <a:pPr lvl="1"/>
            <a:r>
              <a:rPr lang="en-US" i="1" dirty="0"/>
              <a:t>Labs</a:t>
            </a:r>
          </a:p>
          <a:p>
            <a:pPr lvl="1"/>
            <a:r>
              <a:rPr lang="en-US" i="1" dirty="0"/>
              <a:t>Exercises</a:t>
            </a:r>
          </a:p>
          <a:p>
            <a:pPr lvl="1"/>
            <a:r>
              <a:rPr lang="en-US" i="1" dirty="0"/>
              <a:t>Class Project steps or activities</a:t>
            </a:r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4484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0960C06ABE4C438F3CD1AD53F199B3" ma:contentTypeVersion="2" ma:contentTypeDescription="Create a new document." ma:contentTypeScope="" ma:versionID="978c65b8c400e50159421e986c50ab86">
  <xsd:schema xmlns:xsd="http://www.w3.org/2001/XMLSchema" xmlns:xs="http://www.w3.org/2001/XMLSchema" xmlns:p="http://schemas.microsoft.com/office/2006/metadata/properties" xmlns:ns2="c4075d26-2d5a-45a5-812a-a50ebb38c38d" targetNamespace="http://schemas.microsoft.com/office/2006/metadata/properties" ma:root="true" ma:fieldsID="6bbbab3dafc7230eee8931da37c761bb" ns2:_="">
    <xsd:import namespace="c4075d26-2d5a-45a5-812a-a50ebb38c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075d26-2d5a-45a5-812a-a50ebb38c3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E355D9-BC64-47C2-83E6-E972A849AF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5E5B24-D7DB-43A2-B205-F646694645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075d26-2d5a-45a5-812a-a50ebb38c3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80C34-2C10-44FA-BBA4-365E552A46ED}">
  <ds:schemaRefs>
    <ds:schemaRef ds:uri="http://schemas.microsoft.com/office/2006/metadata/properties"/>
    <ds:schemaRef ds:uri="http://schemas.microsoft.com/office/infopath/2007/PartnerControls"/>
    <ds:schemaRef ds:uri="f79bb63b-d09f-4f03-8606-263f98566ed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5045</TotalTime>
  <Words>2063</Words>
  <Application>Microsoft Macintosh PowerPoint</Application>
  <PresentationFormat>Widescreen</PresentationFormat>
  <Paragraphs>271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Cyber Security:  Data Encryption</vt:lpstr>
      <vt:lpstr>What We’ll Learn</vt:lpstr>
      <vt:lpstr>How do Business and Industry Use It?</vt:lpstr>
      <vt:lpstr>How We’ll Learn This</vt:lpstr>
      <vt:lpstr>Step By Step…</vt:lpstr>
      <vt:lpstr>Information Security … à go-go (a mini lesson)</vt:lpstr>
      <vt:lpstr>Discussion:   A Measured Response</vt:lpstr>
      <vt:lpstr>Discussion:   Prioritized Importance</vt:lpstr>
      <vt:lpstr>Discussion:   Identify Security Threats and Risk</vt:lpstr>
      <vt:lpstr>Discussion:   Encryption</vt:lpstr>
      <vt:lpstr>Step By Step…</vt:lpstr>
      <vt:lpstr>Online Payment System – User Stories</vt:lpstr>
      <vt:lpstr>Online Payment System – Data Flow Concept</vt:lpstr>
      <vt:lpstr>PowerPoint Presentation</vt:lpstr>
      <vt:lpstr>Submit Online Payments - Solution</vt:lpstr>
      <vt:lpstr>Online Payment System – Solution Part 2</vt:lpstr>
      <vt:lpstr>Online Payment System – End-to-End test</vt:lpstr>
      <vt:lpstr>Step By Step…</vt:lpstr>
      <vt:lpstr>Caesar Cipher</vt:lpstr>
      <vt:lpstr>sample solution</vt:lpstr>
      <vt:lpstr>PowerPoint Presentation</vt:lpstr>
      <vt:lpstr>Step By Step…</vt:lpstr>
      <vt:lpstr>PowerPoint Presentation</vt:lpstr>
      <vt:lpstr>Step By Step…</vt:lpstr>
      <vt:lpstr>What We’ve Just Learned</vt:lpstr>
      <vt:lpstr>PowerPoint Presentation</vt:lpstr>
      <vt:lpstr>PowerPoint Presentation</vt:lpstr>
      <vt:lpstr>Follow-On: Homework, Exercises, Labs…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X: &lt;main_topic_name&gt;</dc:title>
  <dc:creator>MSWills</dc:creator>
  <cp:lastModifiedBy>Daniel Sullivan</cp:lastModifiedBy>
  <cp:revision>49</cp:revision>
  <dcterms:created xsi:type="dcterms:W3CDTF">2020-03-04T10:26:45Z</dcterms:created>
  <dcterms:modified xsi:type="dcterms:W3CDTF">2024-10-07T17:03:26Z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0x0101005C0960C06ABE4C438F3CD1AD53F199B3</vt:lpwstr>
  </property>
</Properties>
</file>